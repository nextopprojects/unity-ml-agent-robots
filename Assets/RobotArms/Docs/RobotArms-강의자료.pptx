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수업에서는 3관절 로봇 팔이 물체를 집어서 다른 자리에 옮겨 놓는 것을 강화학습으로 가르칩니다. 중요한 것은 완성된 결과가 아니라 가는 길입니다. 네 번의 큰 실패가 나오는데, 그 실패가 이 수업의 알맹이입니다. 코드를 외우는 시간이 아니라 '왜 이렇게 했는가'를 따라오는 시간이라고 생각해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답할 다섯 가지 질문입니다. 각 장이 질문 하나씩에 답합니다. 마지막에 이 다섯 줄로 다시 돌아와 한 줄씩 답을 채울 겁니다. 지금은 이해하지 못해도 됩니다. 질문이 있다는 것만 기억해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용어부터 잡고 갑니다. 여기 나오는 여섯 단어가 이후 모든 슬라이드에 계속 등장합니다. 지금 10분을 쓰면 뒤가 훨씬 편해집니다. 어려운 수식은 하나도 안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개에게 '앉아'를 가르치는 장면을 떠올려 보세요. 개한테 앉는 방법을 말로 설명하지 않습니다. 우연히 앉았을 때 간식을 줍니다. 그걸 반복하면 개는 '앉으면 좋은 일이 생긴다'를 배웁니다. 강화학습이 정확히 이것입니다. 정답을 알려주는 게 아니라 결과에 점수를 매길 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그림이 오늘의 주인공입니다. 앞으로 계속 나옵니다. 왼쪽이 배우는 쪽, 오른쪽이 세상입니다. 에이전트가 행동을 하면 환경이 바뀌고, 환경은 바뀐 모습과 점수를 돌려줍니다. 이 한 바퀴가 쉬지 않고 돕니다. 오늘 슬라이드마다 이 그림의 어느 부분 이야기인지 색으로 표시할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관측은 에이전트의 눈입니다. 사람이 눈을 감고 컵을 잡을 수 없듯, 관측에 없는 정보로는 절대 학습할 수 없습니다. 뒤에서 '잡고 있는가'라는 값 하나를 빼면 학습이 아예 불가능해지는 장면이 나옵니다. 그때 이 슬라이드를 떠올려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행동은 에이전트가 세상에 영향을 줄 수 있는 유일한 통로입니다. 여기서는 관절 세 개의 회전 속도입니다. 각도를 직접 정하는 게 아니라 '얼마나 빨리 돌릴지'를 정한다는 점이 중요한데, 2장에서 이유를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보상은 가르치는 사람이 쥔 유일한 손잡이입니다. 그래서 대부분의 실패가 여기서 납니다. 오늘 보실 실패 네 개 중 셋이 보상 설계 문제였습니다. '열심히 안 배운다'가 아니라 '엉뚱한 걸 열심히 배운다'가 더 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에피소드는 게임 한 판입니다. 중요한 건 '반드시 끝나야 한다'는 점입니다. 끝나지 않으면 그 판의 경험은 학습에 들어가지 못합니다. 3장에서 MaxStep, 4장에서 실패 종료 조건이 나오는데 둘 다 이 이야기입니다.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2장에는 강화학습이 한 글자도 안 나옵니다. 그런데도 독립된 장으로 둔 이유가 있습니다. 로봇 팔은 링크 길이나 관절 범위를 조금만 잘못 잡아도 물체에 영영 닿을 수 없는 환경이 됩니다. 그 상태로 학습을 돌리면 원인은 환경인데 보상만 끝없이 의심하게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무대를 봅니다. 테이블 위에 팔이 있고, 주황색 물체를 집어서 초록색 자리에 놓는 것이 최종 과제입니다. 여기 적힌 숫자들은 전부 나중에 다시 나옵니다. 특히 '닿는 거리 1.17에서 2.70'이 중요합니다. 물체가 이 범위 밖에 나타나면 무슨 짓을 해도 학습은 실패합니다.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팔은 관절 세 개입니다. 좌우로 도는 관절 하나, 위아래로 도는 관절 둘. 이 세 개가 곧 자유도(DOF)이고, 나중에 AI가 내놓을 숫자 세 개와 정확히 하나씩 짝이 됩니다. 관절 개수 = 액션 개수. 이 대응이 로봇 팔 강화학습의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첫 번째 설계 판단이 나옵니다. 관절 각도를 Unity의 Transform에서 읽어올 수도 있는데, 그렇게 하지 않고 변수로 따로 들고 있습니다. 이유는 회전이 쿼터니언으로 저장되기 때문입니다. -170도와 190도가 같은 회전이라 되읽으면 값이 튑니다. 각도는 우리가 정한 값이니 우리가 들고 있는 게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판단입니다. 각도를 직접 넣지 않고 속도를 더해 나갑니다. 각도를 직접 넣으면 한 프레임에 팔이 순간이동할 수 있습니다. 속도로 받으면 조금씩만 움직입니다. 그리고 이게 핵심인데, 이 한 줄이 2장과 3장에서 완전히 똑같습니다. 키보드 입력이 들어가던 자리에 AI의 숫자가 들어갈 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번째이자 이 장에서 가장 중요한 판단입니다. 관절마다 최소·최대 각도를 정해 뒀는데도 팔이 테이블을 뚫습니다. 어깨를 20도, 팔꿈치를 -120도로 두면 두 각도 모두 제 범위 안인데 팔 끝은 테이블 아래로 내려갑니다. 가동 범위는 관절 하나로 정해지지 않습니다. 조합으로 정해집니다. 실제 로봇도 같은 문제를 갖고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2장의 결론입니다. 이 장에는 AI가 없습니다. 그런데도 독립된 장으로 둔 이유가 이 한 문장입니다. 키보드로 물체까지 팔을 가져갈 수 없다면, 그건 AI가 못 배우는 게 아니라 문제 자체가 풀 수 없는 것입니다. 학습이 안 될 때 보상이나 하이퍼파라미터부터 의심하는 게 사람 심리인데, 원인은 대부분 여기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드디어 ML-Agents가 나옵니다. 하지만 팔은 2장에서 만든 것을 그대로 씁니다. 바뀌는 것은 관절을 돌리라고 시키는 주체 하나뿐입니다. 키보드에서 신경망으로.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2장과 3장의 코드를 나란히 놓으면 이렇습니다. 오른쪽이 왼쪽과 똑같습니다. 입력이 키보드에서 오느냐 신경망에서 오느냐만 다릅니다. 이게 설계를 잘해 둔 덕입니다. 팔을 움직이는 코드를 학습 코드와 섞어 놨다면 이렇게 깔끔하게 갈아끼울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0장에서 본 그림을 로봇 팔 이야기로 바꾼 것입니다. 앞으로 슬라이드마다 이 그림의 어느 부분을 말하는지 표시하겠습니다. 지금은 전체가 켜져 있습니다. 한 바퀴가 0.02초, 1초에 50번 돕니다. 다만 AI가 매번 새로 판단하지는 않습니다. 그건 뒤에서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관측 12개를 봅니다. 각도만 넣으면 될 것 같은데 각속도도 넣습니다. 지금 얼마나 빨리 돌고 있는지를 모르면 목표를 지나쳐 버리기 때문입니다. 자동차를 세울 때 속도를 모르면 안 되는 것과 같습니다. 그리고 위치는 모두 팔 받침대 기준으로 바꿔서 넣습니다. 그래야 나중에 학습 영역을 여러 개 복제해도 같은 숫자가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관측을 그대로 넣으면 안 됩니다. 각도는 ±180, 위치는 ±2.7입니다. 숫자가 큰 값이 학습을 지배해 버립니다. 그래서 전부 -1에서 1 사이로 맞춰서 넣습니다. 이걸 정규화라고 합니다. 사람으로 치면 '키는 센티미터, 몸무게는 킬로그램'인데 둘을 그냥 더하면 키가 몸무게를 눌러버리는 것과 비슷합니다.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장에서 가장 중요한 슬라이드입니다. 먼저 실패를 보여줍니다. RollerBall 예제처럼 '닿으면 +1'만 줘 보면 보상이 -1 근처에서 꿈쩍도 하지 않습니다. 이유는 간단합니다. 관절 세 개가 동시에 맞아야 하는 팔이 무작위로 흔들어서 물체에 닿을 확률이 거의 0이기 때문입니다. 칭찬받은 적이 없으니 배울 것도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해결은 '가까워진 만큼' 칭찬하는 것입니다. 목표까지 가는 길을 잘게 쪼개서 가는 동안에도 신호를 주는 겁니다. 이걸 보상 설계, Reward Shaping이라고 합니다. 멀어지면 자동으로 음수가 되니까 한 줄로 양방향이 다 됩니다. 시간 페널티를 같이 주면 빨리 가는 쪽이 이득이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MaxStep입니다. RollerBall은 0, 무제한이어도 됐습니다. 공은 굴러떨어지면 판이 끝났으니까요. 그런데 팔은 떨어질 곳이 없습니다. 실패한 판이 영원히 끝나지 않으면 학습 데이터가 한 판도 쌓이지 않습니다. 그리고 판단 주기 이야기도 같이 합니다. 물리는 1초에 50번 도는데 AI는 10번만 판단합니다.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4장에서 이 프로젝트의 최종 과제가 완성됩니다. 5장부터는 집는 방식만 바꿉니다. 집는 방법은 가장 단순한 자석으로 합니다. 가까이서 버튼을 누르면 붙습니다. 집는 방식과 과제 구조를 한꺼번에 바꾸면 학습이 안 될 때 어느 쪽이 원인인지 알 수 없기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과제가 네 토막이 됩니다. 가서, 집고, 옮기고, 놓습니다. 여기서 결정적인 어려움은 '팔 자세가 똑같아도 해야 할 일이 정반대'라는 점입니다. 물체 앞에 있는데 빈손이면 집어야 하고, 들고 있으면 놓을 자리로 가야 합니다. 관측만 보고는 구분할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액션이 하나 늘어납니다. 관절 회전은 '조금 더, 조금 덜'이 의미 있는 연속량입니다. 그런데 잡기는 잡거나 안 잡거나 둘 중 하나입니다. 0.5만큼 잡는다는 게 말이 안 됩니다. 액션의 성질에 맞는 타입을 고르는 것도 설계의 일부입니다.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 방법이 이 장의 핵심 아이디어입니다. 목표를 상태에 따라 바꿉니다. 빈손이면 가야 할 점이 물체, 들고 있으면 놓을 자리입니다. 그런데 보상 공식은 3장과 똑같이 하나입니다. AI는 '지금 가야 할 점으로 간다'는 규칙 하나만 배우면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첫 번째 큰 실패가 나옵니다. 실제 학습 로그입니다. 보상이 올라가기는커녕 12만 스텝 만에 -23까지 내려갔습니다. Value Loss는 195까지 치솟았습니다. 원인은 진전 보상에 상한이 없었던 것입니다. 물체를 놓치면 목표까지 거리가 한 스텝에 몇 미터씩 벌어지는데, 그 한 스텝이 판 전체 보상을 덮어써 버립니다.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실패입니다. 물체가 팔이 갈 수 없는 곳으로 가버리면, AI는 갈 수 없는 곳을 향해 3000스텝을 헛돕니다. 그 판은 학습에 아무 도움이 안 됩니다. 그래서 작업 범위를 정해 두고 벗어나면 판을 새로 엽니다. 중요한 건 이 범위를 추측하지 않고 전수로 재서 정했다는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개선입니다. 놓기에 성공해도 판을 끝내지 않습니다. 놓을 자리만 새 랜덤 자리로 옮기고 계속 시킵니다. 끝내 버리면 한 판에서 배우는 게 한 번뿐입니다. 이어가면 한 판에서 여러 번 배우고, 게다가 물체가 직전에 자기가 놓은 자리에 있으니 시작 상황도 매번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4장의 보상을 한 장에 모았습니다. 여섯 줄뿐입니다. 위 두 개는 길을 알려주는 것이고, 가운데 둘은 단계를 넘어가는 다리이고, 아래 둘은 실수를 막는 것입니다. 특히 '처음 집었을 때 +0.5'는 없으면 AI가 집기를 시도할 이유가 아예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랜덤 이야기입니다. 놓을 자리를 고정해 두면 AI가 그 자리를 통째로 외워 버립니다. 관측을 보지 않고도 성공하니 겉보기 성적은 좋은데 아무것도 배우지 못합니다. 그래서 물체도 놓을 자리도 매 판 랜덤으로 두되, 최소 0.6은 떨어뜨립니다. 겹치면 가만히 있어도 성공해 버리니까요.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4장에서 과제는 이미 완성됐습니다. 5장에서 바뀌는 것은 집는 방식 하나뿐입니다. 자석은 프로그램이 붙여 주는 것이었습니다. 이제는 손가락이 실제로 눌러서 마찰로 버팁니다. 붙드는 코드가 한 줄도 없습니다. 세게 휘두르면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4장과 5장을 나란히 놓으면 이렇습니다. 과제도, 보상 공식도, 팔도 그대로입니다. '잡았다'의 뜻만 바뀝니다. 프로그램이 정한 상태값에서, 양쪽 손가락이 닿아 있다는 물리적 사실로. 팔과 과제를 그대로 둔 덕에 4장과 5장의 학습 곡선을 나란히 놓고 비교할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5장이 어려운 진짜 이유는 두 세계를 섞기 때문입니다. 팔은 Transform을 직접 대입해서 움직입니다. 물리 엔진은 팔이 있다는 사실조차 모릅니다. 집게는 Rigidbody입니다. 물리 엔진이 위치를 정합니다. 이 둘을 잘못 이으면 보상을 아무리 고쳐도 학습되지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먼저 밟는 함정입니다. 집게를 팔 끝의 자식으로 매달면 안 됩니다. 팔은 Transform을 직접 대입하니까, 그 밑에 매단 손가락은 물리 엔진 몰래 순간이동합니다. 순간이동하는 손가락은 물체를 누르지 못합니다. 통과했다 나타났다 할 뿐입니다. 마찰은 맞닿은 채로 미는 힘에서 나오니까, 그러면 영영 잡히지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보상으로는 절대 못 고치는 문제입니다. 이 팔에는 손목 관절이 없습니다. 그래서 팔 끝의 기울기를 우리가 정할 수 없고, 팔뚝이 어디를 향하느냐에 따라 끌려서 정해집니다. 계산해 보면 테이블 위 물체에 닿으려면 팔뚝이 62도로 꽂히는 자세밖에 없는데, 그 방향으로 손가락을 뻗으면 끝이 테이블 아래로 들어갑니다. 구조의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집게 모양 이야기입니다. 처음에는 판 두 개로 만들었는데 물체가 수박씨처럼 튀어나갔습니다. 회전하는 판은 물체와 비스듬히 만나서, 누르는 힘이 물체를 옆으로 밀어냅니다. 그래서 거꾸로 설계했습니다. 다 오므렸을 때 면이 나란해지도록 먼저 놓고, 거기서 바깥으로 젖힌 것을 쉬는 자세로 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오늘 가장 기억에 남았으면 하는 것입니다. 물었는데 들어 올리면 미끄러졌습니다. 마찰 계수를 올려도, 쥐는 힘을 올려도 안 고쳐졌습니다. 원인은 전혀 다른 곳에 있었습니다. 손가락이 너무 가벼웠던 겁니다. 물리 엔진은 무게 차이가 큰 두 물체를 관절로 잇는 걸 잘 못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자석은 아무 방향에서나 닿기만 하면 됐습니다. 집게는 옆에서 돌진하면 물체를 밀어내 버립니다. 밀린 물체를 또 쫓아가니 거리가 영영 줄지 않습니다. 이것 때문에 800만 스텝을 돌려도 보상이 -1에서 꿈쩍하지 않았습니다. 그래서 '위로 먼저'가 들어갑니다. 멀면 높이 뜬 점, 가까우면 낮은 점을 목표로 주면 위로 돌아 내려오는 경로가 저절로 만들어집니다.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마지막 실패이자 가장 비싼 실패입니다. 손가락이 테이블을 파고들지 않게 바닥 한계선을 0.29로 올렸습니다. 그런데 어깨가 높이 0.30에 있습니다. 한계선을 거기 붙이면 팔 전체가 0.29와 0.30 사이 아주 얇은 층에만 있을 수 있습니다. 통과 방지는 관절을 하나씩 되돌리니까 그 좁은 통로를 못 빠져나갑니다. 스폰 25곳 중 10곳에만 갈 수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병렬 학습입니다. 강화학습이 느린 이유는 계산이 무거워서가 아니라 경험을 모으는 속도가 느려서입니다. 팔 하나로는 1초에 50스텝밖에 못 모읍니다. 같은 환경을 25개 만들어 동시에 돌리면 경험이 25배로 쌓입니다. 그런데 학습 코드는 한 줄도 바꾸지 않습니다. 이름이 같은 에이전트를 ML-Agents가 알아서 한 두뇌로 묶기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5장의 검증 결과입니다. 중요한 건 숫자보다 조건입니다. 통과 방지를 켠 채로, 실제 학습과 똑같은 조건에서 쟀습니다. 앞에서 800만 스텝을 날린 이유가 바로 이걸 끄고 검증했기 때문입니다. 스폰 25곳을 전부 훑어서 25곳 모두 물고 들어 올렸습니다.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처음의 다섯 질문으로 돌아옵니다. 한 줄씩 답을 채웠습니다. 다섯 개 모두 '환경을 먼저 본다'로 이어진다는 점을 봐 주세요. 보상을 고치기 전에, 하이퍼파라미터를 만지기 전에, 사람이 그 문제를 풀 수 있는지부터 확인하는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장으로 정리하면 이렇습니다. 관측이 12개에서 19개로 늘어나는 동안 액션은 거의 그대로입니다. 장마다 딱 한 가지씩만 바꿨다는 점을 봐 주세요. 두 가지를 한꺼번에 바꾸면 학습이 안 될 때 원인을 찾을 수 없습니다. 이게 이 교재 전체를 관통하는 원칙입니다.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결론 한 줄입니다. 학습이 안 될 때 사람 심리는 보상을 만지고 하이퍼파라미터를 바꾸는 쪽으로 갑니다. 그런데 오늘 본 실패 네 개 중 셋이 환경 문제였습니다. 갈 수 없는 곳에 물체가 있거나, 판이 끝나지 않거나, 값 하나가 팔을 가두거나. 실습은 git log 순서대로 따라가면 됩니다. 각 커밋이 한 장입니다.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 팔에게 일을 가르치기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Teaching a Robot Arm  ·  Unity ML-Agents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관절을 돌리는 것부터 물리 집게로 물건을 옮기기까지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2장 → 5장  ·  실습 교재와 같은 순서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답할 다섯 가지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장이 질문 하나씩에 답합니다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32588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13258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강화학습은 대체 무엇을 하는 것인가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1892808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89280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189280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못 하는 일을 AI가 할 수 있을까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459736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45973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45973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무엇을 보고 무엇을 하는가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63440" y="132588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0600" y="132588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166360" y="132588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목표가 여러 단계면 어떻게 가르치나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1892808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00600" y="189280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166360" y="189280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진짜로 물건을 집으려면 무엇이 달라지나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663440" y="2459736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00600" y="245973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166360" y="245973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학습이 안 될 때 어디를 먼저 보는가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40690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069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정답보다 실패한 이유가 더 오래 남습니다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 강화학습이란 무엇인가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00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강화학습이란 무엇인가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— 해본 결과로 배우는 방법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8046720" cy="18288"/>
          </a:xfrm>
          <a:prstGeom prst="roundRect">
            <a:avLst>
              <a:gd name="adj" fmla="val 400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3703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· 환경 · 관측 · 행동 · 보상 · 에피소드를 말로 설명할 수 있다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답할 질문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069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정답을 안 알려주고 어떻게 가르치지?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 강화학습이란 무엇인가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개에게 앉기를 가르치는 일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정답을 알려주지 않고, 해본 결과로 가르친다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46304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06F63"/>
          </a:solidFill>
          <a:ln w="12700">
            <a:solidFill>
              <a:srgbClr val="E06F6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463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가르치지 않는 방식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정답을 알려준다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"뒷다리를 굽히고 엉덩이를 내려라"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개는 이 말을 알아듣지 못한다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사람도 자전거를 이렇게 배우지 않았다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4630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강화학습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결과에 점수를 준다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2860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우연히 앉았다 → 간식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 앉았다 → 아무것도 없다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점수를 늘리는 쪽으로 스스로 바뀐다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886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가르치는 사람은 '무엇이 좋은가'만 정한다. 방법은 스스로 찾는다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 강화학습이란 무엇인가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바퀴가 쉬지 않고 돈다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— Environment Loop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80160" y="1844345"/>
            <a:ext cx="1975104" cy="883310"/>
          </a:xfrm>
          <a:prstGeom prst="roundRect">
            <a:avLst>
              <a:gd name="adj" fmla="val 8282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80160" y="1844345"/>
            <a:ext cx="1975104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 팔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88736" y="1844345"/>
            <a:ext cx="1975104" cy="883310"/>
          </a:xfrm>
          <a:prstGeom prst="roundRect">
            <a:avLst>
              <a:gd name="adj" fmla="val 8282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88736" y="1844345"/>
            <a:ext cx="1975104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테이블 · 물체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28416" y="2091672"/>
            <a:ext cx="2487168" cy="0"/>
          </a:xfrm>
          <a:prstGeom prst="line">
            <a:avLst/>
          </a:prstGeom>
          <a:noFill/>
          <a:ln w="25400">
            <a:solidFill>
              <a:srgbClr val="F2B6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 flipH="1">
            <a:off x="3328416" y="2480328"/>
            <a:ext cx="2487168" cy="0"/>
          </a:xfrm>
          <a:prstGeom prst="line">
            <a:avLst/>
          </a:prstGeom>
          <a:noFill/>
          <a:ln w="25400">
            <a:solidFill>
              <a:srgbClr val="F2B65B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328416" y="179906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— 관절을 돌린다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28416" y="25260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· 보상 — 결과를 돌려준다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4747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 Agent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배우는 쪽. 여기서는 로봇 팔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291840" y="34747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7472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 Environment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팔이 아닌 나머지 전부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35040" y="34747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스텝  Step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바퀴가 한 번 도는 것. 0.02초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 강화학습이란 무엇인가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에이전트가 지금 보고 있는 것. 숫자 목록 하나로 들어간다.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 비유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3591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눈을 떴을 때 보이는 장면. 공의 위치, 내 팔의 각도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여기서는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29992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각도 3 + 각속도 3 + 팔 끝 3 + 물체 3 = 12개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794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보이지 않는 것은 배울 수 없다. 무엇을 넣을지가 설계의 절반이다.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0" y="10972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12080" y="1962302"/>
            <a:ext cx="1152144" cy="921715"/>
          </a:xfrm>
          <a:prstGeom prst="roundRect">
            <a:avLst>
              <a:gd name="adj" fmla="val 7937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12080" y="1962302"/>
            <a:ext cx="115214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pPr algn="ctr" indent="0" marL="0">
              <a:buNone/>
            </a:pP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60336" y="1962302"/>
            <a:ext cx="1152144" cy="921715"/>
          </a:xfrm>
          <a:prstGeom prst="roundRect">
            <a:avLst>
              <a:gd name="adj" fmla="val 7937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0336" y="1962302"/>
            <a:ext cx="115214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pPr algn="ctr" indent="0" marL="0">
              <a:buNone/>
            </a:pP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37376" y="2220383"/>
            <a:ext cx="749808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H="1">
            <a:off x="6437376" y="2625937"/>
            <a:ext cx="749808" cy="0"/>
          </a:xfrm>
          <a:prstGeom prst="line">
            <a:avLst/>
          </a:prstGeom>
          <a:noFill/>
          <a:ln w="38100">
            <a:solidFill>
              <a:srgbClr val="F2B65B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300216" y="2000927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300216" y="2671657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· 보상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0" y="3886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환경이 에이전트에게 돌려주는 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 강화학습이란 무엇인가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에이전트가 매 스텝 내놓는 숫자. 환경을 바꾸는 유일한 수단이다.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 비유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3591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핸들을 얼마나 돌릴지, 브레이크를 밟을지 말지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여기서는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29992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3개를 각각 얼마나 빨리 돌릴지 (-1 ~ 1)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794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연속(얼마나)과 이산(할까 말까)은 성질이 다르다. 4장에서 둘을 같이 쓴다.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0" y="10972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12080" y="1962302"/>
            <a:ext cx="1152144" cy="921715"/>
          </a:xfrm>
          <a:prstGeom prst="roundRect">
            <a:avLst>
              <a:gd name="adj" fmla="val 7937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12080" y="1962302"/>
            <a:ext cx="115214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pPr algn="ctr" indent="0" marL="0">
              <a:buNone/>
            </a:pP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60336" y="1962302"/>
            <a:ext cx="1152144" cy="921715"/>
          </a:xfrm>
          <a:prstGeom prst="roundRect">
            <a:avLst>
              <a:gd name="adj" fmla="val 7937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0336" y="1962302"/>
            <a:ext cx="115214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pPr algn="ctr" indent="0" marL="0">
              <a:buNone/>
            </a:pP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37376" y="2220383"/>
            <a:ext cx="749808" cy="0"/>
          </a:xfrm>
          <a:prstGeom prst="line">
            <a:avLst/>
          </a:prstGeom>
          <a:noFill/>
          <a:ln w="38100">
            <a:solidFill>
              <a:srgbClr val="F2B65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H="1">
            <a:off x="6437376" y="2625937"/>
            <a:ext cx="749808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300216" y="2000927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300216" y="2671657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· 보상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0" y="3886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에이전트가 환경에 내보내는 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 강화학습이란 무엇인가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Reward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행동이 좋았는지 알려주는 점수. 이것 말고는 가르칠 방법이 없다.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 비유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3591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개에게 주는 간식. 잘하면 +, 못하면 아무것도 없거나 -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여기서는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29992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물체에 가까워지면 +, 시간이 흐르면 조금씩 -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794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보상을 잘못 주면 엉뚱한 것을 아주 열심히 배운다.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0" y="10972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12080" y="1962302"/>
            <a:ext cx="1152144" cy="921715"/>
          </a:xfrm>
          <a:prstGeom prst="roundRect">
            <a:avLst>
              <a:gd name="adj" fmla="val 7937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12080" y="1962302"/>
            <a:ext cx="115214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pPr algn="ctr" indent="0" marL="0">
              <a:buNone/>
            </a:pP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60336" y="1962302"/>
            <a:ext cx="1152144" cy="921715"/>
          </a:xfrm>
          <a:prstGeom prst="roundRect">
            <a:avLst>
              <a:gd name="adj" fmla="val 7937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0336" y="1962302"/>
            <a:ext cx="115214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pPr algn="ctr" indent="0" marL="0">
              <a:buNone/>
            </a:pP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37376" y="2220383"/>
            <a:ext cx="749808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H="1">
            <a:off x="6437376" y="2625937"/>
            <a:ext cx="749808" cy="0"/>
          </a:xfrm>
          <a:prstGeom prst="line">
            <a:avLst/>
          </a:prstGeom>
          <a:noFill/>
          <a:ln w="38100">
            <a:solidFill>
              <a:srgbClr val="F2B65B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300216" y="2000927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300216" y="2671657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· 보상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0" y="3886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실패 사례 네 개 중 세 개가 보상 문제였다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 강화학습이란 무엇인가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에피소드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Episode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판. 시작해서 끝날 때까지. 끝나면 처음 상태로 되돌리고 다시 시작한다.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77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 비유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3591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한 판. 죽거나 깨거나 시간이 다 되면 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여기서는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29992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3000스텝(60초) 또는 물체를 잃으면 끝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794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끝나지 않는 판은 학습 데이터가 되지 않는다. 끝낼 조건을 반드시 둔다.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0" y="10972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12080" y="1962302"/>
            <a:ext cx="1152144" cy="921715"/>
          </a:xfrm>
          <a:prstGeom prst="roundRect">
            <a:avLst>
              <a:gd name="adj" fmla="val 7937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12080" y="1962302"/>
            <a:ext cx="115214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pPr algn="ctr" indent="0" marL="0">
              <a:buNone/>
            </a:pP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60336" y="1962302"/>
            <a:ext cx="1152144" cy="921715"/>
          </a:xfrm>
          <a:prstGeom prst="roundRect">
            <a:avLst>
              <a:gd name="adj" fmla="val 7937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0336" y="1962302"/>
            <a:ext cx="115214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pPr algn="ctr" indent="0" marL="0">
              <a:buNone/>
            </a:pP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37376" y="2220383"/>
            <a:ext cx="749808" cy="0"/>
          </a:xfrm>
          <a:prstGeom prst="line">
            <a:avLst/>
          </a:prstGeom>
          <a:noFill/>
          <a:ln w="25400">
            <a:solidFill>
              <a:srgbClr val="F2B65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H="1">
            <a:off x="6437376" y="2625937"/>
            <a:ext cx="749808" cy="0"/>
          </a:xfrm>
          <a:prstGeom prst="line">
            <a:avLst/>
          </a:prstGeom>
          <a:noFill/>
          <a:ln w="25400">
            <a:solidFill>
              <a:srgbClr val="F2B65B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300216" y="2000927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300216" y="2671657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· 보상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0" y="3886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= 이 바퀴를 수백~수천 번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사람이 먼저 풀어본다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먼저 풀어본다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2장 — 관절 회전과 키보드 조작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8046720" cy="18288"/>
          </a:xfrm>
          <a:prstGeom prst="roundRect">
            <a:avLst>
              <a:gd name="adj" fmla="val 400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3703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붙이기 전에 환경이 풀 수 있는 문제인지 확인하는 법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답할 질문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069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키보드로 못 하는 일을 AI가 할 수 있을까?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사람이 먼저 풀어본다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무대 — 우리가 다룰 공간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1장에서 만들어 둔 것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4754880" cy="2286000"/>
          </a:xfrm>
          <a:prstGeom prst="roundRect">
            <a:avLst>
              <a:gd name="adj" fmla="val 32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테이블  5.0 × 4.0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0120" y="1828800"/>
            <a:ext cx="4023360" cy="1417320"/>
          </a:xfrm>
          <a:prstGeom prst="roundRect">
            <a:avLst>
              <a:gd name="adj" fmla="val 3226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8720" y="2743200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9AA0AB"/>
          </a:solidFill>
          <a:ln w="12700">
            <a:solidFill>
              <a:srgbClr val="9AA0A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2743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2148840"/>
            <a:ext cx="274320" cy="274320"/>
          </a:xfrm>
          <a:prstGeom prst="ellipse">
            <a:avLst/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9748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물체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31920" y="2743200"/>
            <a:ext cx="274320" cy="274320"/>
          </a:xfrm>
          <a:prstGeom prst="ellipse">
            <a:avLst/>
          </a:prstGeom>
          <a:solidFill>
            <a:srgbClr val="6CC59B"/>
          </a:solidFill>
          <a:ln w="12700">
            <a:solidFill>
              <a:srgbClr val="6CC59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11880" y="3063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C5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놓을 자리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7840" y="128016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6072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치수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5760720" y="178308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 길이  1.5 + 1.2 = 2.7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닿는 거리  1.17 ~ 2.70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물체가 나타나는 곳  1.2 ~ 2.4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좌우  ±60도 부채꼴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받침대(어깨) 높이  0.30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7947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37947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숫자들은 추측이 아니라 전부 계산으로 확인한 값입니다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사람이 먼저 풀어본다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팔은 관절 3개다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DOF — 자유도 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703070" cy="1005840"/>
          </a:xfrm>
          <a:prstGeom prst="roundRect">
            <a:avLst>
              <a:gd name="adj" fmla="val 727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371600"/>
            <a:ext cx="17030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J0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좌우 회전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97430" y="1874520"/>
            <a:ext cx="320040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63190" y="1371600"/>
            <a:ext cx="1703070" cy="1005840"/>
          </a:xfrm>
          <a:prstGeom prst="roundRect">
            <a:avLst>
              <a:gd name="adj" fmla="val 727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63190" y="1371600"/>
            <a:ext cx="17030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J1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어깨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11980" y="1874520"/>
            <a:ext cx="320040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777740" y="1371600"/>
            <a:ext cx="1703070" cy="1005840"/>
          </a:xfrm>
          <a:prstGeom prst="roundRect">
            <a:avLst>
              <a:gd name="adj" fmla="val 727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7740" y="1371600"/>
            <a:ext cx="17030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J2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팔꿈치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26530" y="1874520"/>
            <a:ext cx="320040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892290" y="1371600"/>
            <a:ext cx="1703070" cy="1005840"/>
          </a:xfrm>
          <a:prstGeom prst="roundRect">
            <a:avLst>
              <a:gd name="adj" fmla="val 7273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92290" y="1371600"/>
            <a:ext cx="17030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 끝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27432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3개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각각 최소·최대 각도와 최대 속도를 갖는다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91840" y="27432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7472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자유도 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 끝을 공간의 어디에 둘지 정하는 손잡이 3개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035040" y="27432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액션 3개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3장에서 AI가 내놓을 숫자와 하나씩 짝이 된다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개수 = 액션 개수. 이 대응에서 모든 것이 시작한다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사람이 먼저 풀어본다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각도를 변수로 들고 있는다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Transform에서 읽지 않는가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4630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06F63"/>
          </a:solidFill>
          <a:ln w="12700">
            <a:solidFill>
              <a:srgbClr val="E06F6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 쓰는 방법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Transform에서 되읽기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회전은 쿼터니언으로 저장된다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-170도와 190도가 같은 회전이다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되읽으면 어느 쪽인지 알 수 없다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범위를 지킬 수가 없다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4630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463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쓰는 방법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각도를 변수로 갖는다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2860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Angle 이라는 숫자를 직접 들고 있는다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범위를 벗어나면 잘라낸다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Transform에는 결과만 써 넣는다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관측에 그대로 쓸 수 있다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886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화면에 보이는 것은 결과일 뿐, 진짜 상태는 우리가 들고 있어야 한다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사람이 먼저 풀어본다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각도가 아니라 속도를 더한다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숫자의 출처만 바뀌면 AI가 조종한다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173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입력을 각도가 아니라 '속도'로 받아서 조금씩 더한다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그래야 한 프레임에 팔이 순간이동하듯 튀지 않는다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+= 입력 * maxSpeed * deltaTime;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C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= Clamp(Angle, minAngle, maxAngle);   // 범위를 지킨다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83464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834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2장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키보드가 숫자를 만든다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/ A 를 누르면 -1 또는 +1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26974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92040" y="283464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2834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3장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숫자를 만든다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신경망이 -1 ~ 1 값을 낸다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1605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 입장에서는 누가 시켰는지 구분하지 않는다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사람이 먼저 풀어본다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범위만으로는 못 막는다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가동 범위는 관절 하나로 정해지지 않는다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6F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각자는 범위 안인데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783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어깨 20도  →  범위 -10 ~ 100 안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팔꿈치 -120도  →  범위 -130 ~ 0 안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그런데 팔 끝 높이는 -0.732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— 움직인 뒤에 검사한다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7830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관절을 돌려 본다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팔이 바닥이나 물체를 뚫었는지 본다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뚫었으면 그 움직임을 되돌린다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벽에 닿아 멈춘 것처럼 보인다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min / max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하나짜리 제약 — 부족하다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91840" y="310896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747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조합 제약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관절이 만든 자세를 본다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35040" y="310896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로봇도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작업대를 치는 자세인지 따로 본다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41605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장치가 없으면 3장 학습이 통째로 무너진다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사람이 먼저 풀어본다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장의 전부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2 — Takeaway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325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키보드로 못 하면, AI도 못 한다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확인한다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081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Heuristic Only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자리에 키보드를 꽂고 직접 물체까지 가본다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91840" y="2606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환경을 의심한다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3081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보상보다 먼저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학습이 안 될 때 코드보다 환경이 원인인 경우가 많다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2606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눈으로 본다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3081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 뷰 Gizmo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닿는 범위와 물체가 나타나는 구역을 그려 둔다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AI에게 맡긴다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맡긴다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3장 — 물체까지 도달 학습 (관측 12 / 액션 3)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8046720" cy="18288"/>
          </a:xfrm>
          <a:prstGeom prst="roundRect">
            <a:avLst>
              <a:gd name="adj" fmla="val 400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3703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관측·행동·보상을 직접 정해 보고, 왜 보상 설계가 필요한지 안다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답할 질문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069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"닿으면 +1" 만 주면 왜 학습이 안 될까?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AI에게 맡긴다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바뀌는 건 숫자의 출처뿐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2장 → 3장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8046720" cy="1920240"/>
          </a:xfrm>
          <a:prstGeom prst="roundRect">
            <a:avLst>
              <a:gd name="adj" fmla="val 381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173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9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2장 — 키보드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입력 = 키보드Q눌림 ? 1 : (키보드A눌림 ? -1 : 0);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arm.Drive(i, 입력, dt);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B6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3장 — AI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입력 = actions.ContinuousActions[i];   // -1 ~ 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C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arm.Drive(i, 입력, dt);                       // 같은 줄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팔은 그대로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977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RobotArmController를 한 줄도 안 고쳤다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342900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정할 것은 셋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3977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보는가 / 무엇을 하는가 / 언제 칭찬하는가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342900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RollerBall과 같다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3977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 구성이 완전히 같다. 공 대신 관절일 뿐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AI에게 맡긴다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팔의 한 바퀴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0.02초마다 한 번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280160" y="1817827"/>
            <a:ext cx="1975104" cy="844906"/>
          </a:xfrm>
          <a:prstGeom prst="roundRect">
            <a:avLst>
              <a:gd name="adj" fmla="val 8658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80160" y="1817827"/>
            <a:ext cx="1975104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 팔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88736" y="1817827"/>
            <a:ext cx="1975104" cy="844906"/>
          </a:xfrm>
          <a:prstGeom prst="roundRect">
            <a:avLst>
              <a:gd name="adj" fmla="val 8658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88736" y="1817827"/>
            <a:ext cx="1975104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테이블 · 물체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28416" y="2054401"/>
            <a:ext cx="2487168" cy="0"/>
          </a:xfrm>
          <a:prstGeom prst="line">
            <a:avLst/>
          </a:prstGeom>
          <a:noFill/>
          <a:ln w="25400">
            <a:solidFill>
              <a:srgbClr val="F2B6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 flipH="1">
            <a:off x="3328416" y="2426159"/>
            <a:ext cx="2487168" cy="0"/>
          </a:xfrm>
          <a:prstGeom prst="line">
            <a:avLst/>
          </a:prstGeom>
          <a:noFill/>
          <a:ln w="25400">
            <a:solidFill>
              <a:srgbClr val="F2B65B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328416" y="1761793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— 관절을 돌린다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28416" y="2471879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· 보상 — 결과를 돌려준다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9B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12개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3931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각도·각속도·팔 끝·물체 위치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1840" y="33832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747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 3개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931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관절을 각각 얼마나 빨리 돌릴지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33832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C5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3931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가까워진 만큼 + / 시간이 가면 -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AI에게 맡긴다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보는가 — 관측 12개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Observation = 12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5669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묶음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왜 필요한가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관절 각도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지금 팔이 어떤 자세인가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관절 각속도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지금 얼마나 빨리 돌고 있는가 — 없으면 목표를 지나친다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팔 끝 위치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 손이 어디 있는가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물체 위치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어디로 가야 하는가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42900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34290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위치는 모두 받침대 기준(로컬)으로 바꿔서 넣는다. 팔이 월드 어디에 있든 같은 숫자가 나와야 나중에 학습 영역을 25개로 복제해도 그대로 쓸 수 있다.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420624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4206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코드의 개수와 설정의 개수가 다르면 실행하는 순간 에러가 난다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AI에게 맡긴다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정규화 — 크기를 맞춘다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Normalization — 큰 값이 학습을 지배한다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463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06F63"/>
          </a:solidFill>
          <a:ln w="12700">
            <a:solidFill>
              <a:srgbClr val="E06F6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그대로 넣으면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단위가 제각각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각도  -180 ~ 180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 -2.7 ~ 2.7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숫자가 큰 각도가 학습을 지배한다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위치는 거의 무시된다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46304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463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정규화하면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전부 -1 ~ 1 근처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2860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각도 ÷ 180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÷ 팔 길이(2.7)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 같은 무게로 취급된다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학습이 훨씬 빨라진다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6576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657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키는 cm, 몸무게는 kg. 그냥 더하면 키가 다 이겨버린다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파일에도 normalize: true 를 함께 켜 둔다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AI에게 맡긴다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"닿으면 +1" 은 학습되지 않는다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실패를 보고 나서 고친다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3258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6F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보상이 -1 근처에서 꿈쩍도 하지 않는다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9B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공은 된다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아무 방향으로 밀어도 굴러가다 목표에 닿는다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91840" y="2468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6F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팔은 안 된다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3개가 동시에 맞아야 한다. 우연히 닿을 확률이 거의 0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35040" y="2468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칭찬받은 적이 없으니 배울 것도 없다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0233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 되는 것을 직접 보고 나서 고친다. 스위치를 꺼 보게 만들어 두었다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AI에게 맡긴다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가까워진 만큼 칭찬한다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Reward Shaping — 보상 설계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8046720" cy="1691640"/>
          </a:xfrm>
          <a:prstGeom prst="roundRect">
            <a:avLst>
              <a:gd name="adj" fmla="val 432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1732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가까워지면 +, 멀어지면 자동으로 -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팔 길이로 나눠서 크기를 맞춘다 (한 판 총합이 대략 1)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AddReward((이전거리 - 지금거리) / 팔길이);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시간 페널티 — 한 판 내내 더하면 약 -1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CC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AddReward(-1 / MaxStep);                 // 빨리 가는 쪽이 이득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C5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줄로 양방향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가까워지면 +, 멀어지면 저절로 -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31089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크기를 맞춘다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 길이로 나눠 한 판 총합을 1 근처로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31089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빨리 가게 한다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가만히 있으면 시간 페널티만 쌓인다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1605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한 줄이 있고 없고가 이 장의 전부다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AI에게 맡긴다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끝나게 한다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MaxStep · 판단 주기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4630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RollerBall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MaxStep = 0 이어도 됐다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공은 굴러떨어지면 판이 끝난다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실패에도 끝이 있었다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4630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로봇 팔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MaxStep = 1000 필수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팔은 떨어질 곳이 없다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끝나지 않는 판은 학습 데이터가 되지 않는다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063240"/>
            <a:ext cx="2407920" cy="914400"/>
          </a:xfrm>
          <a:prstGeom prst="roundRect">
            <a:avLst>
              <a:gd name="adj" fmla="val 8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063240"/>
            <a:ext cx="240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 50Hz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0.02초마다 한 번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002280" y="3520440"/>
            <a:ext cx="320040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368040" y="3063240"/>
            <a:ext cx="2407920" cy="914400"/>
          </a:xfrm>
          <a:prstGeom prst="roundRect">
            <a:avLst>
              <a:gd name="adj" fmla="val 8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68040" y="3063240"/>
            <a:ext cx="240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10Hz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5번에 한 번만 판단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821680" y="3520440"/>
            <a:ext cx="320040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187440" y="3063240"/>
            <a:ext cx="2407920" cy="914400"/>
          </a:xfrm>
          <a:prstGeom prst="roundRect">
            <a:avLst>
              <a:gd name="adj" fmla="val 8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87440" y="3063240"/>
            <a:ext cx="240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사이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직전 판단을 계속 적용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사람도 초당 50번 손가락을 고쳐 잡지는 않는다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집어서 옮겨 놓기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집어서 옮겨 놓기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4장 — 최종 과제 완성 (관측 16 / 액션 3 + 1)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8046720" cy="18288"/>
          </a:xfrm>
          <a:prstGeom prst="roundRect">
            <a:avLst>
              <a:gd name="adj" fmla="val 400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3703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목표가 여러 단계인 과제를 하나의 보상 공식으로 가르치는 법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답할 질문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069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잡기 전과 든 뒤는 해야 할 일이 정반대인데 어떻게 구분하나?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집어서 옮겨 놓기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과제가 네 토막이 된다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가서 → 집고 → 옮기고 → 놓는다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703070" cy="1051560"/>
          </a:xfrm>
          <a:prstGeom prst="roundRect">
            <a:avLst>
              <a:gd name="adj" fmla="val 6957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371600"/>
            <a:ext cx="17030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간다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물체까지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97430" y="1897380"/>
            <a:ext cx="320040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63190" y="1371600"/>
            <a:ext cx="1703070" cy="1051560"/>
          </a:xfrm>
          <a:prstGeom prst="roundRect">
            <a:avLst>
              <a:gd name="adj" fmla="val 6957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63190" y="1371600"/>
            <a:ext cx="17030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집는다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버튼을 누른다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11980" y="1897380"/>
            <a:ext cx="320040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777740" y="1371600"/>
            <a:ext cx="1703070" cy="1051560"/>
          </a:xfrm>
          <a:prstGeom prst="roundRect">
            <a:avLst>
              <a:gd name="adj" fmla="val 6957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7740" y="1371600"/>
            <a:ext cx="17030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옮긴다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놓을 자리로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26530" y="1897380"/>
            <a:ext cx="320040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892290" y="1371600"/>
            <a:ext cx="1703070" cy="1051560"/>
          </a:xfrm>
          <a:prstGeom prst="roundRect">
            <a:avLst>
              <a:gd name="adj" fmla="val 6957"/>
            </a:avLst>
          </a:prstGeom>
          <a:solidFill>
            <a:srgbClr val="6CC59B"/>
          </a:solidFill>
          <a:ln w="12700">
            <a:solidFill>
              <a:srgbClr val="6CC59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92290" y="1371600"/>
            <a:ext cx="17030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놓는다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손을 뗀다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278892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6F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여기서 생기는 문제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291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 자세가 똑같아도 해야 할 일이 정반대다.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물체 앞에서 빈손이면 집어야 하고, 들고 있으면 놓을 자리로 가야 한다.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"지금 들고 있는가" 한 칸이 관측에 반드시 들어간다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집어서 옮겨 놓기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연속과 이산을 함께 쓴다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Continuous + Discrete Action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463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463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 액션 3개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회전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-1 ~ 1 사이 아무 값이나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"조금 더 / 조금 덜"이 의미 있다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온도 조절기 같은 것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46304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463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이산 액션 1개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잡기 / 놓기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또는 1, 둘 중 하나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0.5만큼 잡는다는 건 없다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전등 스위치 같은 것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5204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5204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ActionSpec(3, new[] { 2 })          연속 3개 + 이산 1개(값 2가지)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20624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206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액션의 성질에 맞는 타입을 고르는 것도 설계다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집어서 옮겨 놓기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목표가 상태에 따라 바뀐다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 공식은 여전히 하나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1732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 지금가야할점()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B6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(들고있지않음)  return 물체위치;        // ① 가지러 간다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C9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              return 놓을자리위치;    // ② 옮긴다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E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보상은 3장과 똑같다 — '가까워진 만큼'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CC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AddReward((이전거리 - 지금거리) / 팔길이);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128016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921154"/>
            <a:ext cx="954634" cy="729691"/>
          </a:xfrm>
          <a:prstGeom prst="roundRect">
            <a:avLst>
              <a:gd name="adj" fmla="val 10025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1921154"/>
            <a:ext cx="954634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57846" y="1921154"/>
            <a:ext cx="954634" cy="729691"/>
          </a:xfrm>
          <a:prstGeom prst="roundRect">
            <a:avLst>
              <a:gd name="adj" fmla="val 10025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57846" y="1921154"/>
            <a:ext cx="954634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</a:t>
            </a:r>
            <a:pPr algn="ctr" indent="0" marL="0">
              <a:buNone/>
            </a:pP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88506" y="2125468"/>
            <a:ext cx="596189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 flipH="1">
            <a:off x="6788506" y="2446532"/>
            <a:ext cx="596189" cy="0"/>
          </a:xfrm>
          <a:prstGeom prst="line">
            <a:avLst/>
          </a:prstGeom>
          <a:noFill/>
          <a:ln w="38100">
            <a:solidFill>
              <a:srgbClr val="F2B65B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6651346" y="1906012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651346" y="2492252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· 보상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관측에 4칸이 늘어난다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9B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+1칸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들고 있는가 (0 또는 1)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918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747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+3칸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47472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가야 할 점. 뜻이 바뀐다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35040" y="370332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16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3장의 12개 + 4개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집어서 옮겨 놓기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① 보상이 발산한다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상한이 없으면 한 스텝이 판 전체를 덮는다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스텝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보상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Value Loss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에피소드 길이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20,000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-1.58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499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120,000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06F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-23.33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06F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195.58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499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2606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7240" y="274320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06F63"/>
          </a:solidFill>
          <a:ln w="12700">
            <a:solidFill>
              <a:srgbClr val="E06F6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거리가 한 번에 몇 미터씩 벌어진다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놓치면 거리가 몇 미터씩 벌어진다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663440" y="2606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92040" y="274320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89204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스텝 보상에 상한을 건다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스텝은 아무리 커도 0.05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96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Loss가 100을 넘으면 보상 크기가 들쭉날쭉하다는 뜻이다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집어서 옮겨 놓기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② 끝나지 않는 실패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끝낼 수 없는 상황은 끝내 준다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실측 — 전수 스캔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 끝을 물체에 0.25 안으로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가져갈 수 있는 거리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CC5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  ~  2.90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코드에 넣은 값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안쪽으로 여유를 둔다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1.00  ~  2.80   좌우 ±115도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28346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6F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벗어나면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-0.5 를 주고 판을 새로 연다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91840" y="28346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747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스폰보다 넓게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1.2~2.4 보다 넉넉해 살짝 밀려도 안 깨진다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35040" y="28346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추측하지 않는다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"팔 길이 안"과 "작업할 수 있는 곳"은 다르다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41605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좁게 잡으면 멀쩡한 판이 끊기고, 넓게 잡으면 끝까지 헛돈다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집어서 옮겨 놓기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성공해도 판을 끝내지 않는다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과제 — 성적표가 바뀐다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188720" y="1719072"/>
            <a:ext cx="6766560" cy="45720"/>
          </a:xfrm>
          <a:prstGeom prst="roundRect">
            <a:avLst>
              <a:gd name="adj" fmla="val 160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33272" y="1581912"/>
            <a:ext cx="310896" cy="310896"/>
          </a:xfrm>
          <a:prstGeom prst="ellipse">
            <a:avLst/>
          </a:prstGeom>
          <a:solidFill>
            <a:srgbClr val="6CC59B"/>
          </a:solidFill>
          <a:ln w="25400">
            <a:solidFill>
              <a:srgbClr val="1516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물체를 집는다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24912" y="1581912"/>
            <a:ext cx="310896" cy="310896"/>
          </a:xfrm>
          <a:prstGeom prst="ellipse">
            <a:avLst/>
          </a:prstGeom>
          <a:solidFill>
            <a:srgbClr val="6CC59B"/>
          </a:solidFill>
          <a:ln w="25400">
            <a:solidFill>
              <a:srgbClr val="1516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0312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놓을 자리에 놓는다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16552" y="1581912"/>
            <a:ext cx="310896" cy="310896"/>
          </a:xfrm>
          <a:prstGeom prst="ellipse">
            <a:avLst/>
          </a:prstGeom>
          <a:solidFill>
            <a:srgbClr val="F2B65B"/>
          </a:solidFill>
          <a:ln w="25400">
            <a:solidFill>
              <a:srgbClr val="1516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476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목표만 새 자리로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08192" y="1581912"/>
            <a:ext cx="310896" cy="310896"/>
          </a:xfrm>
          <a:prstGeom prst="ellipse">
            <a:avLst/>
          </a:prstGeom>
          <a:solidFill>
            <a:srgbClr val="2C2F3A"/>
          </a:solidFill>
          <a:ln w="25400">
            <a:solidFill>
              <a:srgbClr val="9AA0A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 집는다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99832" y="1581912"/>
            <a:ext cx="310896" cy="310896"/>
          </a:xfrm>
          <a:prstGeom prst="ellipse">
            <a:avLst/>
          </a:prstGeom>
          <a:solidFill>
            <a:srgbClr val="2C2F3A"/>
          </a:solidFill>
          <a:ln w="25400">
            <a:solidFill>
              <a:srgbClr val="9AA0A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7804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판이 끝날 때까지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27432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28803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06F63"/>
          </a:solidFill>
          <a:ln w="12700">
            <a:solidFill>
              <a:srgbClr val="E06F6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끝내면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판에 한 번만 배운다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3703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같은 자리에서 시작한다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663440" y="27432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92040" y="28803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CC59B"/>
          </a:solidFill>
          <a:ln w="12700">
            <a:solidFill>
              <a:srgbClr val="6CC59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9204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이어가면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89204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판에 여러 번 배운다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4892040" y="3703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물체가 직전에 놓은 자리에 있다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41605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성적표는 에피소드 길이가 아니라 "한 판에 몇 번 옮겼나"가 된다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집어서 옮겨 놓기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 한눈에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4장의 전부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4572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언제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가까워진 만큼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CC59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±0.05 이내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길을 알려준다. 상한이 없으면 발산한다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 스텝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-1/MaxStep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빨리 하는 쪽이 이득이 되게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처음 집었을 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CC59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+0.5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없으면 집기를 시도할 이유가 없다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놓을 자리에 놓기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CC59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+1.0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진짜 목표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엉뚱한 곳에 놓기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06F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-0.3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판은 계속한다. 실수에서 회복하는 것도 과제다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작업 범위 밖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06F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-0.5 + 종료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끝낼 수 없는 상황을 끝낸다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보상은 다음 단계로 건너가는 다리다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집어서 옮겨 놓기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외울 수 있게 두지 않는다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물체도 놓을 자리도 매 판 랜덤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4630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06F63"/>
          </a:solidFill>
          <a:ln w="12700">
            <a:solidFill>
              <a:srgbClr val="E06F6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고정하면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자리를 외워버린다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관측을 보지 않고도 성공한다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겉보기 성적은 좋다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그런데 아무것도 배우지 못했다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조금만 바꾸면 전혀 못 한다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4630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흔들면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관측을 읽게 된다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2860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다른 자리에서 시작한다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"보고 판단한다"를 배울 수밖에 없다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단, 최소 0.6은 떨어뜨린다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겹치면 가만히 있어도 성공한다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성적이 좋은데 실제로는 못한다면 외울 거리가 있는지 본다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집게로 교체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집게로 교체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5장 — 마찰로 잡기 (관측 19 / 액션 그대로)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8046720" cy="18288"/>
          </a:xfrm>
          <a:prstGeom prst="roundRect">
            <a:avLst>
              <a:gd name="adj" fmla="val 400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3703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운동학과 물리를 한 씬에서 섞을 때 생기는 문제와 해결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답할 질문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069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자석을 떼고 진짜 집게를 달면 무엇이 달라지나?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집게로 교체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바뀌는 건 집는 방식 하나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번에 하나씩만 바꾼다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4장 — 자석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5장 — 집게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0A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집는 방법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가까이서 버튼을 누르면 붙는다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손가락이 눌러서 마찰로 버틴다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0A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"잡았다"의 뜻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프로그램이 정한 상태값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양쪽 손가락이 닿아 있다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0A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놓치는 일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있다. 세게 휘두르면 빠진다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0A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관측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  (+쥔 정도, +좌우 접촉)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0A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액션 · 보상 · 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CC59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그대로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번에 하나만 바꿔야 두 곡선을 비교할 수 있다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집게로 교체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세계를 섞는다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운동학(Kinematics) vs 물리(Dynamics)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46304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6C9BD2"/>
          </a:solidFill>
          <a:ln w="12700">
            <a:solidFill>
              <a:srgbClr val="6C9BD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463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Transform을 직접 대입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각도를 정해서 써 넣는다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 엔진은 팔의 존재를 모른다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빠르고 예측 가능하다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대신 부딪힘이 없다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46304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463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집게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Rigidbody — 물리가 정한다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2860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힘과 마찰로 움직인다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물체를 실제로 누를 수 있다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잡을 수 있다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대신 마음대로 안 된다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749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3749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장의 함정 대부분이 이 경계에서 나온다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3159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Rigidbody — 물리 엔진이 맡는 몸. 손으로 컵을 놓으면 떨어지는 것이 물리 엔진이 하는 일이다.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집게로 교체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팔의 자식으로 매달면 안 된다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순간이동하는 손가락은 물체를 누르지 못한다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4630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06F63"/>
          </a:solidFill>
          <a:ln w="12700">
            <a:solidFill>
              <a:srgbClr val="E06F6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463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틀린 방법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Tip의 자식으로 매단다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2860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부모가 움직이면 자식도 끌려간다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 엔진 입장에서는 순간이동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물체를 통과했다 나타났다 한다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마찰이 아예 생기지 않는다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4630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463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맞는 방법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 바깥에 두고 따라간다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2860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집게는 팔의 자식이 아니다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스텝 MovePosition으로 쫓아간다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스텝에 여기까지 가라"는 주문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물린 물체도 같은 속도로 딸려간다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65760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794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C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_body.MovePosition(팔끝.position);    // 순간이동이 아니다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06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transform.position = ... 로 쓰면 물린 물체가 빠진다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집게로 교체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손목이 없으면 옆에서 못 집는다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보상으로는 못 고친다 — 구조의 문제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32588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구조로는 옆에서 집는 것이 기하학적으로 불가능하다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6F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관절이 3개뿐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어깨 · 팔꿈치 · 좌우 회전. 손목이 없다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26060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기울기가 끌려간다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테이블 위 물체에 닿으려면 팔뚝이 62도로 꽂힌다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26060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손끝이 땅을 판다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방향으로 손가락(0.22)을 뻗으면 테이블 아래로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9776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977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— 손목을 항상 아래로 고정하고 위에서 내려 집는다. 좌우 방향만 팔을 따라 돌린다.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집게로 교체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모양이 곧 성능이다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 오므린 자세부터 거꾸로 설계한다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집게발 — 마디 3개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8288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경첩  ±0.17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위마디 — 바깥으로 벌어진다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팔꿈치  ±0.27   ← 가장 바깥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아래마디 — 다시 모인다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패드  ±0.115   ← 여기로 문다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실측 — 벌렸을 때</a:t>
            </a:r>
            <a:endParaRPr lang="en-US" sz="13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828800"/>
          <a:ext cx="3474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입구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0.714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가장 좁은 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0.556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패드 사이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0.622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물체 한 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0.200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36576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3657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벌림을 38도로 뒀더니 목이 0.487이라 허용 오차가 반 토막 났다 → 50도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모양을 바꾸면 허용 오차를 반드시 다시 재야 한다. 보기 좋아진 대신 조용히 성능이 깎인다.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집게로 교체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③ 마찰이 아니라 무게였다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계수부터 올리지 않는다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3258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 엔진은 무게 차이가 큰 두 물체를 관절로 잇는 것에 약하다</a:t>
            </a:r>
            <a:endParaRPr lang="en-US" sz="17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474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손가락 무게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버티는 물체 무게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0.05 kg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 kg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06F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흔들면 빠진다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0.60 kg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2.0 kg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CC59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흔들어도 버틴다  ← 이 값을 쓴다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2.00 kg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06F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자기 관성 때문에 다시 빠진다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06908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 될 때 계수부터 올리지 않는다. 구조를 먼저 본다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집게로 교체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단계가 넷으로 늘어난다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①③의 "위로 먼저"가 핵심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805940" cy="1005840"/>
          </a:xfrm>
          <a:prstGeom prst="roundRect">
            <a:avLst>
              <a:gd name="adj" fmla="val 7273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371600"/>
            <a:ext cx="18059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물체 위로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정렬되면 내려온다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00300" y="1874520"/>
            <a:ext cx="182880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28900" y="1371600"/>
            <a:ext cx="1805940" cy="1005840"/>
          </a:xfrm>
          <a:prstGeom prst="roundRect">
            <a:avLst>
              <a:gd name="adj" fmla="val 727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28900" y="1371600"/>
            <a:ext cx="18059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들어올린다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똑바로 0.40까지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80560" y="1874520"/>
            <a:ext cx="182880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709160" y="1371600"/>
            <a:ext cx="1805940" cy="1005840"/>
          </a:xfrm>
          <a:prstGeom prst="roundRect">
            <a:avLst>
              <a:gd name="adj" fmla="val 7273"/>
            </a:avLst>
          </a:prstGeom>
          <a:solidFill>
            <a:srgbClr val="F2B65B"/>
          </a:solidFill>
          <a:ln w="12700">
            <a:solidFill>
              <a:srgbClr val="F2B6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1371600"/>
            <a:ext cx="18059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놓을 자리 위로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정렬되면 내려온다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60820" y="1874520"/>
            <a:ext cx="182880" cy="0"/>
          </a:xfrm>
          <a:prstGeom prst="line">
            <a:avLst/>
          </a:prstGeom>
          <a:noFill/>
          <a:ln w="25400">
            <a:solidFill>
              <a:srgbClr val="9AA0A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789420" y="1371600"/>
            <a:ext cx="1805940" cy="1005840"/>
          </a:xfrm>
          <a:prstGeom prst="roundRect">
            <a:avLst>
              <a:gd name="adj" fmla="val 7273"/>
            </a:avLst>
          </a:prstGeom>
          <a:solidFill>
            <a:srgbClr val="6CC59B"/>
          </a:solidFill>
          <a:ln w="12700">
            <a:solidFill>
              <a:srgbClr val="6CC59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89420" y="1371600"/>
            <a:ext cx="18059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놓는다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516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손을 편다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27432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6F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옆에서 가면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200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집게가 물체를 밀어낸다. 밀린 물체를 또 쫓아가니 거리가 영영 줄지 않는다.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663440" y="27432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9204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C5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위로 먼저 가면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3200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멀면 높이 뜬 점, 가까우면 낮은 점을 목표로. 돌아 내려오는 경로가 저절로 생긴다.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이것 때문에 800만 스텝을 돌려도 보상이 -1에서 꿈쩍하지 않았다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집게로 교체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④ 800만 스텝을 날린 값 하나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바닥 한계선 0.29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3258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E06F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어깨가 0.30에 있는데 한계선을 0.29에 두면, 팔이 얇은 층에 갇힌다</a:t>
            </a:r>
            <a:endParaRPr lang="en-US" sz="16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291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바닥 한계선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스폰 25곳 중 갈 수 있는 곳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0.29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6F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 곳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06F6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60%의 물체에 접근 자체가 불가능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0.22 이하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CC59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 곳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전부 접근 가능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0.14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CC59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 곳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값을 쓴다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06908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검증을 통과 방지를 끄고 했다. 편의를 위해 끈 스위치가 곧 원인이었다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집게로 교체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영역을 25개로 복제한다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코드는 한 줄도 바꾸지 않는다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영역 (5 × 5)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메뉴 한 번으로 복제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25배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경험이 쌓이는 속도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수집이 병목이다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37160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CC5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0줄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고친 학습 코드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CC59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이름이 같으면 한 두뇌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291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2918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 — 복제는 1~5장 구성을 모두 마친 뒤 마지막에 한다. 장별 메뉴는 이름으로 부품을 찾기 때문에 복제본이 있으면 첫 번째 영역만 고치게 된다.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20624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206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문제를 여러 번 겪는 것이 오래 겪는 것보다 낫다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집게로 교체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— 실제 학습과 같은 조건에서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blockPenetration ON · clearance 0.14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8046720" cy="2011680"/>
          </a:xfrm>
          <a:prstGeom prst="roundRect">
            <a:avLst>
              <a:gd name="adj" fmla="val 3636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63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C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1.2 :  들었음  들었음  들었음  들었음  들었음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C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1.5 :  들었음  들었음  들었음  들었음  들었음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C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1.8 :  들었음  들었음  들었음  들었음  들었음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C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2.1 :  들었음  들었음  들었음  들었음  들었음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C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2.4 :  들었음  들었음  들었음  들었음  들었음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B6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물기 25/25    들어올리기 25/25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조건을 먼저 적는다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켜고 껐는지를 결과와 함께 남긴다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3520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흔적을 남기지 않는다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물리를 돌려본 뒤 그대로 저장하면 그 자세가 처음 모습이 된다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3520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전수로 훑는다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몇 군데만 보면 못 가는 구역을 놓친다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질문에 답하기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167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강화학습은 무엇을 하는가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정답을 알려주지 않고 결과에 점수를 줘서 가르친다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1847088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883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사람이 못 하는 일을 AI가?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못 한다. 키보드로 못 하면 학습도 안 된다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2414016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AI는 무엇을 보고 하는가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2670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 12~19개를 보고 관절 속도 3개를 내놓는다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1280160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13167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목표가 여러 단계면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"지금 가야 할 점" 하나로 바꾼다. 보상 공식은 하나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63440" y="1847088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1883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진짜로 집으려면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80060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운동학과 물리의 경계를 제대로 이어야 한다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63440" y="2414016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21232B"/>
          </a:solidFill>
          <a:ln w="12700">
            <a:solidFill>
              <a:srgbClr val="2123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0060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학습이 안 될 때 어디를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2670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환경. 갈 수 있는 곳인지, 끝나는지, 보상이 튀는지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보상보다 환경을 먼저 의심한다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장으로 보는 전체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장마다 한 가지씩만 바꾼다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188720" y="1810512"/>
            <a:ext cx="6766560" cy="45720"/>
          </a:xfrm>
          <a:prstGeom prst="roundRect">
            <a:avLst>
              <a:gd name="adj" fmla="val 160000"/>
            </a:avLst>
          </a:prstGeom>
          <a:solidFill>
            <a:srgbClr val="2C2F3A"/>
          </a:solidFill>
          <a:ln w="12700">
            <a:solidFill>
              <a:srgbClr val="2C2F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33272" y="1673352"/>
            <a:ext cx="310896" cy="310896"/>
          </a:xfrm>
          <a:prstGeom prst="ellipse">
            <a:avLst/>
          </a:prstGeom>
          <a:solidFill>
            <a:srgbClr val="6CC59B"/>
          </a:solidFill>
          <a:ln w="25400">
            <a:solidFill>
              <a:srgbClr val="1516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2장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관절 회전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88792" y="1673352"/>
            <a:ext cx="310896" cy="310896"/>
          </a:xfrm>
          <a:prstGeom prst="ellipse">
            <a:avLst/>
          </a:prstGeom>
          <a:solidFill>
            <a:srgbClr val="6CC59B"/>
          </a:solidFill>
          <a:ln w="25400">
            <a:solidFill>
              <a:srgbClr val="15161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1272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3장  관측 12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66700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도달 학습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544312" y="1673352"/>
            <a:ext cx="310896" cy="310896"/>
          </a:xfrm>
          <a:prstGeom prst="ellipse">
            <a:avLst/>
          </a:prstGeom>
          <a:solidFill>
            <a:srgbClr val="6CC59B"/>
          </a:solidFill>
          <a:ln w="25400">
            <a:solidFill>
              <a:srgbClr val="1516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6824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4장  관측 16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92252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집어서 옮기기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99832" y="1673352"/>
            <a:ext cx="310896" cy="310896"/>
          </a:xfrm>
          <a:prstGeom prst="ellipse">
            <a:avLst/>
          </a:prstGeom>
          <a:solidFill>
            <a:srgbClr val="F2B65B"/>
          </a:solidFill>
          <a:ln w="25400">
            <a:solidFill>
              <a:srgbClr val="15161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2376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5장  관측 19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17804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집게로 교체</a:t>
            </a:r>
            <a:endParaRPr lang="en-US" sz="115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새로 배운 것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바뀐 것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사람이 먼저 풀어본다 · 조합 제약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관측 정규화 · 보상 설계 · MaxStep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AI가 조종한다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다단계 과제 · 보상 상한 · 실패 종료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과제가 완성된다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65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운동학과 물리 · 접촉 판정 · 병렬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DEEF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집는 방식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5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DEE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환경을 먼저 본다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0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학습이 안 되면 보상과 하이퍼파라미터보다 환경이 먼저다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B6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교재 · git log 가 곧 진행 순서입니다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2026-09-27T04:45:31Z</dcterms:created>
  <dcterms:modified xsi:type="dcterms:W3CDTF">2026-09-27T04:45:31Z</dcterms:modified>
</cp:coreProperties>
</file>